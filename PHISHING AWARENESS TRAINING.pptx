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Inter"/>
      <p:bold r:id="rId16"/>
      <p:boldItalic r:id="rId17"/>
    </p:embeddedFont>
    <p:embeddedFont>
      <p:font typeface="Inter ExtraBold"/>
      <p:bold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  <p:embeddedFont>
      <p:font typeface="Inter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InterMedium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italic.fntdata"/><Relationship Id="rId25" Type="http://schemas.openxmlformats.org/officeDocument/2006/relationships/font" Target="fonts/InterMedium-bold.fntdata"/><Relationship Id="rId27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-boldItalic.fntdata"/><Relationship Id="rId16" Type="http://schemas.openxmlformats.org/officeDocument/2006/relationships/font" Target="fonts/Inter-bold.fntdata"/><Relationship Id="rId19" Type="http://schemas.openxmlformats.org/officeDocument/2006/relationships/font" Target="fonts/InterExtraBold-boldItalic.fntdata"/><Relationship Id="rId18" Type="http://schemas.openxmlformats.org/officeDocument/2006/relationships/font" Target="fonts/InterExtra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0833ab35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0833ab3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0833ab350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0833ab350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0833ab350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0833ab350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0833ab350_0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0833ab350_0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0833ab350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0833ab350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0833ab350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0833ab350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e0833ab350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e0833ab350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0833ab350_0_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e0833ab350_0_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0833ab350_0_10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0833ab350_0_1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0"/>
            <a:ext cx="9144000" cy="952500"/>
            <a:chOff x="0" y="0"/>
            <a:chExt cx="9144000" cy="952500"/>
          </a:xfrm>
        </p:grpSpPr>
        <p:sp>
          <p:nvSpPr>
            <p:cNvPr id="55" name="Google Shape;55;p13"/>
            <p:cNvSpPr/>
            <p:nvPr/>
          </p:nvSpPr>
          <p:spPr>
            <a:xfrm>
              <a:off x="0" y="0"/>
              <a:ext cx="9144000" cy="952500"/>
            </a:xfrm>
            <a:prstGeom prst="rect">
              <a:avLst/>
            </a:prstGeom>
            <a:solidFill>
              <a:srgbClr val="0F172A">
                <a:alpha val="6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381000" y="19050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32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PHISHING AWARENESS TRAINING</a:t>
              </a:r>
              <a:endParaRPr b="0" sz="32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57" name="Google Shape;57;p13"/>
          <p:cNvGrpSpPr/>
          <p:nvPr/>
        </p:nvGrpSpPr>
        <p:grpSpPr>
          <a:xfrm>
            <a:off x="1714500" y="1524000"/>
            <a:ext cx="5715000" cy="2286000"/>
            <a:chOff x="1714500" y="1524000"/>
            <a:chExt cx="5715000" cy="2286000"/>
          </a:xfrm>
        </p:grpSpPr>
        <p:sp>
          <p:nvSpPr>
            <p:cNvPr id="58" name="Google Shape;58;p13"/>
            <p:cNvSpPr/>
            <p:nvPr/>
          </p:nvSpPr>
          <p:spPr>
            <a:xfrm>
              <a:off x="1714500" y="1524000"/>
              <a:ext cx="5715000" cy="2286000"/>
            </a:xfrm>
            <a:prstGeom prst="roundRect">
              <a:avLst>
                <a:gd fmla="val 8333" name="adj"/>
              </a:avLst>
            </a:prstGeom>
            <a:solidFill>
              <a:srgbClr val="FFFFFF">
                <a:alpha val="10000"/>
              </a:srgbClr>
            </a:solidFill>
            <a:ln cap="flat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2000250" y="1809750"/>
              <a:ext cx="5143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800">
                  <a:solidFill>
                    <a:srgbClr val="3B82F6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Protecting Your Digital Identity</a:t>
              </a:r>
              <a:endParaRPr b="0" sz="1800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GB" sz="3600">
                  <a:solidFill>
                    <a:srgbClr val="FFFFFF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Phishing Awareness and Cyber Safety</a:t>
              </a:r>
              <a:endParaRPr b="0" sz="3600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0" y="4667250"/>
            <a:ext cx="9144000" cy="476400"/>
            <a:chOff x="0" y="4667250"/>
            <a:chExt cx="9144000" cy="476400"/>
          </a:xfrm>
        </p:grpSpPr>
        <p:sp>
          <p:nvSpPr>
            <p:cNvPr id="61" name="Google Shape;61;p13"/>
            <p:cNvSpPr/>
            <p:nvPr/>
          </p:nvSpPr>
          <p:spPr>
            <a:xfrm>
              <a:off x="0" y="4667250"/>
              <a:ext cx="9144000" cy="476400"/>
            </a:xfrm>
            <a:prstGeom prst="rect">
              <a:avLst/>
            </a:prstGeom>
            <a:solidFill>
              <a:srgbClr val="0F172A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381000" y="466725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4A3B8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1: Introduction | Corporate Cybersecurity Training Series</a:t>
              </a:r>
              <a:endParaRPr b="0" sz="1100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is Phishing?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9" name="Google Shape;69;p14"/>
          <p:cNvGrpSpPr/>
          <p:nvPr/>
        </p:nvGrpSpPr>
        <p:grpSpPr>
          <a:xfrm>
            <a:off x="381000" y="1047750"/>
            <a:ext cx="8382000" cy="571500"/>
            <a:chOff x="381000" y="1047750"/>
            <a:chExt cx="8382000" cy="571500"/>
          </a:xfrm>
        </p:grpSpPr>
        <p:sp>
          <p:nvSpPr>
            <p:cNvPr id="70" name="Google Shape;70;p14"/>
            <p:cNvSpPr/>
            <p:nvPr/>
          </p:nvSpPr>
          <p:spPr>
            <a:xfrm>
              <a:off x="381000" y="1047750"/>
              <a:ext cx="8382000" cy="571500"/>
            </a:xfrm>
            <a:prstGeom prst="roundRect">
              <a:avLst>
                <a:gd fmla="val 13333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4"/>
            <p:cNvSpPr txBox="1"/>
            <p:nvPr/>
          </p:nvSpPr>
          <p:spPr>
            <a:xfrm>
              <a:off x="571500" y="1047750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1400">
                  <a:solidFill>
                    <a:srgbClr val="1E293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Phishing is a cyberattack where attackers trick users into taking harmful actions.</a:t>
              </a:r>
              <a:endParaRPr b="0" sz="140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72" name="Google Shape;72;p14"/>
          <p:cNvGrpSpPr/>
          <p:nvPr/>
        </p:nvGrpSpPr>
        <p:grpSpPr>
          <a:xfrm>
            <a:off x="381000" y="1809750"/>
            <a:ext cx="4095900" cy="2667000"/>
            <a:chOff x="381000" y="1809750"/>
            <a:chExt cx="4095900" cy="2667000"/>
          </a:xfrm>
        </p:grpSpPr>
        <p:sp>
          <p:nvSpPr>
            <p:cNvPr id="73" name="Google Shape;73;p14"/>
            <p:cNvSpPr/>
            <p:nvPr/>
          </p:nvSpPr>
          <p:spPr>
            <a:xfrm>
              <a:off x="381000" y="1809750"/>
              <a:ext cx="40959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571500" y="204114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38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1047750" y="200025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What They Want You To Do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571500" y="2476500"/>
              <a:ext cx="3714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Sharing sensitive passwords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Clicking on malicious links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Downloading harmful malware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Providing private banking information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7" name="Google Shape;77;p14"/>
          <p:cNvGrpSpPr/>
          <p:nvPr/>
        </p:nvGrpSpPr>
        <p:grpSpPr>
          <a:xfrm>
            <a:off x="4667250" y="1809750"/>
            <a:ext cx="4095900" cy="2667000"/>
            <a:chOff x="4667250" y="1809750"/>
            <a:chExt cx="4095900" cy="2667000"/>
          </a:xfrm>
        </p:grpSpPr>
        <p:sp>
          <p:nvSpPr>
            <p:cNvPr id="78" name="Google Shape;78;p14"/>
            <p:cNvSpPr/>
            <p:nvPr/>
          </p:nvSpPr>
          <p:spPr>
            <a:xfrm>
              <a:off x="4667250" y="1809750"/>
              <a:ext cx="40959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 txBox="1"/>
            <p:nvPr/>
          </p:nvSpPr>
          <p:spPr>
            <a:xfrm>
              <a:off x="4857750" y="204114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person_search</a:t>
              </a:r>
              <a:endParaRPr sz="238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0" name="Google Shape;80;p14"/>
            <p:cNvSpPr txBox="1"/>
            <p:nvPr/>
          </p:nvSpPr>
          <p:spPr>
            <a:xfrm>
              <a:off x="5334000" y="200025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Who They Pretend To Be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4857750" y="2476500"/>
              <a:ext cx="37149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Trusted Banks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Well-known Companies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Official Government agencies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Trusted Friends or coworkers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2" name="Google Shape;82;p14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1 — Introduction | Phishing Awareness Training</a:t>
            </a:r>
            <a:endParaRPr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 txBox="1"/>
          <p:nvPr>
            <p:ph type="title"/>
          </p:nvPr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Types of Phishing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381000" y="952500"/>
            <a:ext cx="8372550" cy="3714825"/>
            <a:chOff x="381000" y="952500"/>
            <a:chExt cx="8372550" cy="3714825"/>
          </a:xfrm>
        </p:grpSpPr>
        <p:sp>
          <p:nvSpPr>
            <p:cNvPr id="91" name="Google Shape;91;p15"/>
            <p:cNvSpPr/>
            <p:nvPr/>
          </p:nvSpPr>
          <p:spPr>
            <a:xfrm>
              <a:off x="381000" y="952500"/>
              <a:ext cx="26004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571500" y="1178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email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571500" y="1571625"/>
              <a:ext cx="221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Email Phishing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Fake emails requesting sensitive information.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3267075" y="952500"/>
              <a:ext cx="26004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 txBox="1"/>
            <p:nvPr/>
          </p:nvSpPr>
          <p:spPr>
            <a:xfrm>
              <a:off x="3457575" y="1178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my_location</a:t>
              </a:r>
              <a:endParaRPr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3457575" y="1571625"/>
              <a:ext cx="221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Spear Phishing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Targeted attacks on specific people or organizations.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6153150" y="952500"/>
              <a:ext cx="26004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 txBox="1"/>
            <p:nvPr/>
          </p:nvSpPr>
          <p:spPr>
            <a:xfrm>
              <a:off x="6343650" y="1178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sms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6343650" y="1571625"/>
              <a:ext cx="221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Smishing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Phishing attempts sent via SMS or text messages.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828800" y="2905125"/>
              <a:ext cx="26004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2019300" y="3130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call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2" name="Google Shape;102;p15"/>
            <p:cNvSpPr txBox="1"/>
            <p:nvPr/>
          </p:nvSpPr>
          <p:spPr>
            <a:xfrm>
              <a:off x="2019300" y="3524250"/>
              <a:ext cx="221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Vishing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Voice-call phishing using social engineering.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4714875" y="2905125"/>
              <a:ext cx="2600400" cy="1762200"/>
            </a:xfrm>
            <a:prstGeom prst="roundRect">
              <a:avLst>
                <a:gd fmla="val 648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4905375" y="31306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content_copy</a:t>
              </a:r>
              <a:endParaRPr sz="24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5" name="Google Shape;105;p15"/>
            <p:cNvSpPr txBox="1"/>
            <p:nvPr/>
          </p:nvSpPr>
          <p:spPr>
            <a:xfrm>
              <a:off x="4905375" y="3524250"/>
              <a:ext cx="2219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Clone Phishing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Copy of legitimate email modified maliciously.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6" name="Google Shape;106;p15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2 — Types of Phishing | Phishing Awareness Training</a:t>
            </a:r>
            <a:endParaRPr b="0"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to Recognize Phishing Emails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4" name="Google Shape;114;p16"/>
          <p:cNvGrpSpPr/>
          <p:nvPr/>
        </p:nvGrpSpPr>
        <p:grpSpPr>
          <a:xfrm>
            <a:off x="381000" y="952500"/>
            <a:ext cx="4095900" cy="2857500"/>
            <a:chOff x="381000" y="952500"/>
            <a:chExt cx="4095900" cy="2857500"/>
          </a:xfrm>
        </p:grpSpPr>
        <p:sp>
          <p:nvSpPr>
            <p:cNvPr id="115" name="Google Shape;115;p16"/>
            <p:cNvSpPr/>
            <p:nvPr/>
          </p:nvSpPr>
          <p:spPr>
            <a:xfrm>
              <a:off x="381000" y="952500"/>
              <a:ext cx="40959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571500" y="1178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report_problem</a:t>
              </a:r>
              <a:endParaRPr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1047750" y="11430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Common Warning Signs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571500" y="1619250"/>
              <a:ext cx="3714900" cy="2000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Urgent or threatening language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Spelling and grammatical mistakes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Suspicious links or mismatched URLs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Unexpected or unknown attachments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Generic greetings or fake sender addresses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Requests for passwords, OTPs, or PII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4667250" y="952500"/>
            <a:ext cx="4095900" cy="2857500"/>
            <a:chOff x="4667250" y="952500"/>
            <a:chExt cx="4095900" cy="2857500"/>
          </a:xfrm>
        </p:grpSpPr>
        <p:sp>
          <p:nvSpPr>
            <p:cNvPr id="120" name="Google Shape;120;p16"/>
            <p:cNvSpPr/>
            <p:nvPr/>
          </p:nvSpPr>
          <p:spPr>
            <a:xfrm>
              <a:off x="4667250" y="952500"/>
              <a:ext cx="40959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4857750" y="1178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alternate_email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5334000" y="11430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 Comparison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4857750" y="1714500"/>
              <a:ext cx="3714900" cy="762000"/>
            </a:xfrm>
            <a:prstGeom prst="roundRect">
              <a:avLst>
                <a:gd fmla="val 10000" name="adj"/>
              </a:avLst>
            </a:prstGeom>
            <a:solidFill>
              <a:srgbClr val="FEF2F2"/>
            </a:solidFill>
            <a:ln cap="flat" cmpd="sng" w="9525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4953000" y="1809750"/>
              <a:ext cx="3524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❌ PHISHING ATTEMPT</a:t>
              </a:r>
              <a:endParaRPr b="1" sz="11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991B1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support-paypal123@gmail.com</a:t>
              </a:r>
              <a:endParaRPr sz="1100">
                <a:solidFill>
                  <a:srgbClr val="991B1B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4857750" y="2667000"/>
              <a:ext cx="3714900" cy="762000"/>
            </a:xfrm>
            <a:prstGeom prst="roundRect">
              <a:avLst>
                <a:gd fmla="val 10000" name="adj"/>
              </a:avLst>
            </a:prstGeom>
            <a:solidFill>
              <a:srgbClr val="F0FDF4"/>
            </a:solidFill>
            <a:ln cap="flat" cmpd="sng" w="9525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4953000" y="2762250"/>
              <a:ext cx="3524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✅ LEGITIMATE SENDER</a:t>
              </a:r>
              <a:endParaRPr b="1" sz="11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16653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support@paypal.com</a:t>
              </a:r>
              <a:endParaRPr sz="1100">
                <a:solidFill>
                  <a:srgbClr val="166534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127" name="Google Shape;127;p16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3 — Recognizing Phishing | Phishing Awareness Training</a:t>
            </a:r>
            <a:endParaRPr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Fake Website Detection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5" name="Google Shape;135;p17"/>
          <p:cNvGrpSpPr/>
          <p:nvPr/>
        </p:nvGrpSpPr>
        <p:grpSpPr>
          <a:xfrm>
            <a:off x="381000" y="952500"/>
            <a:ext cx="4095900" cy="2857500"/>
            <a:chOff x="381000" y="952500"/>
            <a:chExt cx="4095900" cy="2857500"/>
          </a:xfrm>
        </p:grpSpPr>
        <p:sp>
          <p:nvSpPr>
            <p:cNvPr id="136" name="Google Shape;136;p17"/>
            <p:cNvSpPr/>
            <p:nvPr/>
          </p:nvSpPr>
          <p:spPr>
            <a:xfrm>
              <a:off x="381000" y="952500"/>
              <a:ext cx="40959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571500" y="12066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96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search_check</a:t>
              </a:r>
              <a:endParaRPr sz="96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8" name="Google Shape;138;p17"/>
            <p:cNvSpPr txBox="1"/>
            <p:nvPr/>
          </p:nvSpPr>
          <p:spPr>
            <a:xfrm>
              <a:off x="1047750" y="11430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Check for: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571500" y="1619250"/>
              <a:ext cx="3714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b="0"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HTTPS lock icon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b="0"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Misspelled domains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b="0"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Poor website design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b="0"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Unexpected login pages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b="0"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Strange popups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4667250" y="952500"/>
            <a:ext cx="4095900" cy="2857500"/>
            <a:chOff x="4667250" y="952500"/>
            <a:chExt cx="4095900" cy="2857500"/>
          </a:xfrm>
        </p:grpSpPr>
        <p:sp>
          <p:nvSpPr>
            <p:cNvPr id="141" name="Google Shape;141;p17"/>
            <p:cNvSpPr/>
            <p:nvPr/>
          </p:nvSpPr>
          <p:spPr>
            <a:xfrm>
              <a:off x="4667250" y="952500"/>
              <a:ext cx="40959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4857750" y="12066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language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5334000" y="11430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 Comparison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4857750" y="1714500"/>
              <a:ext cx="3714900" cy="762000"/>
            </a:xfrm>
            <a:prstGeom prst="roundRect">
              <a:avLst>
                <a:gd fmla="val 10000" name="adj"/>
              </a:avLst>
            </a:prstGeom>
            <a:solidFill>
              <a:srgbClr val="FEF2F2"/>
            </a:solidFill>
            <a:ln cap="flat" cmpd="sng" w="9525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7"/>
            <p:cNvSpPr txBox="1"/>
            <p:nvPr/>
          </p:nvSpPr>
          <p:spPr>
            <a:xfrm>
              <a:off x="4953000" y="1809750"/>
              <a:ext cx="3524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991B1B"/>
                  </a:solidFill>
                  <a:latin typeface="Inter"/>
                  <a:ea typeface="Inter"/>
                  <a:cs typeface="Inter"/>
                  <a:sym typeface="Inter"/>
                </a:rPr>
                <a:t>❌ FAKE DOMAIN</a:t>
              </a:r>
              <a:endParaRPr b="1" sz="11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991B1B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amaz0n-login.com</a:t>
              </a:r>
              <a:endParaRPr b="1" sz="1100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4857750" y="2667000"/>
              <a:ext cx="3714900" cy="762000"/>
            </a:xfrm>
            <a:prstGeom prst="roundRect">
              <a:avLst>
                <a:gd fmla="val 10000" name="adj"/>
              </a:avLst>
            </a:prstGeom>
            <a:solidFill>
              <a:srgbClr val="F0FDF4"/>
            </a:solidFill>
            <a:ln cap="flat" cmpd="sng" w="9525">
              <a:solidFill>
                <a:srgbClr val="DCFC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7"/>
            <p:cNvSpPr txBox="1"/>
            <p:nvPr/>
          </p:nvSpPr>
          <p:spPr>
            <a:xfrm>
              <a:off x="4953000" y="2762250"/>
              <a:ext cx="3524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✅ LEGITIMATE DOMAIN</a:t>
              </a:r>
              <a:endParaRPr b="1" sz="11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166534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amazon.com</a:t>
              </a:r>
              <a:endParaRPr b="1" sz="11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8" name="Google Shape;148;p17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4 — Fake Website Detection | Phishing Awareness Training</a:t>
            </a:r>
            <a:endParaRPr b="0"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 txBox="1"/>
          <p:nvPr>
            <p:ph type="title"/>
          </p:nvPr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Social Engineering Tactics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6" name="Google Shape;156;p18"/>
          <p:cNvGrpSpPr/>
          <p:nvPr/>
        </p:nvGrpSpPr>
        <p:grpSpPr>
          <a:xfrm>
            <a:off x="381000" y="952500"/>
            <a:ext cx="4095900" cy="2857500"/>
            <a:chOff x="381000" y="952500"/>
            <a:chExt cx="4095900" cy="2857500"/>
          </a:xfrm>
        </p:grpSpPr>
        <p:sp>
          <p:nvSpPr>
            <p:cNvPr id="157" name="Google Shape;157;p18"/>
            <p:cNvSpPr/>
            <p:nvPr/>
          </p:nvSpPr>
          <p:spPr>
            <a:xfrm>
              <a:off x="381000" y="952500"/>
              <a:ext cx="40959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571500" y="1178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1047750" y="11430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Emotional Manipulation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571500" y="1619250"/>
              <a:ext cx="3714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Attackers manipulate emotions like: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Fear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Urgency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Excitement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Curiosity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048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Inter"/>
                <a:buChar char="●"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Trust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1" name="Google Shape;161;p18"/>
          <p:cNvGrpSpPr/>
          <p:nvPr/>
        </p:nvGrpSpPr>
        <p:grpSpPr>
          <a:xfrm>
            <a:off x="4667250" y="952500"/>
            <a:ext cx="4095900" cy="2857500"/>
            <a:chOff x="4667250" y="952500"/>
            <a:chExt cx="4095900" cy="2857500"/>
          </a:xfrm>
        </p:grpSpPr>
        <p:sp>
          <p:nvSpPr>
            <p:cNvPr id="162" name="Google Shape;162;p18"/>
            <p:cNvSpPr/>
            <p:nvPr/>
          </p:nvSpPr>
          <p:spPr>
            <a:xfrm>
              <a:off x="4667250" y="952500"/>
              <a:ext cx="40959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4857750" y="11780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campaign</a:t>
              </a:r>
              <a:endParaRPr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5334000" y="1143000"/>
              <a:ext cx="32385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Common Tricks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4857750" y="1619250"/>
              <a:ext cx="3714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Watch out for phrases that create pressure:</a:t>
              </a:r>
              <a:endParaRPr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4755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“Your account will be locked!”</a:t>
              </a:r>
              <a:endParaRPr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4755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“You won a prize!”</a:t>
              </a:r>
              <a:endParaRPr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475569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“Verify immediately!”</a:t>
              </a:r>
              <a:endParaRPr sz="1200">
                <a:solidFill>
                  <a:srgbClr val="475569"/>
                </a:solidFill>
                <a:latin typeface="Roboto Mono"/>
                <a:ea typeface="Roboto Mono"/>
                <a:cs typeface="Roboto Mono"/>
                <a:sym typeface="Roboto Mono"/>
              </a:endParaRPr>
            </a:p>
          </p:txBody>
        </p:sp>
      </p:grpSp>
      <p:sp>
        <p:nvSpPr>
          <p:cNvPr id="166" name="Google Shape;166;p18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5 — Social Engineering Tactics | Phishing Awareness Training</a:t>
            </a:r>
            <a:endParaRPr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Best Practices: Safety Tips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74" name="Google Shape;174;p19"/>
          <p:cNvGrpSpPr/>
          <p:nvPr/>
        </p:nvGrpSpPr>
        <p:grpSpPr>
          <a:xfrm>
            <a:off x="381000" y="1047750"/>
            <a:ext cx="4095900" cy="1143000"/>
            <a:chOff x="381000" y="1047750"/>
            <a:chExt cx="4095900" cy="1143000"/>
          </a:xfrm>
        </p:grpSpPr>
        <p:sp>
          <p:nvSpPr>
            <p:cNvPr id="175" name="Google Shape;175;p19"/>
            <p:cNvSpPr/>
            <p:nvPr/>
          </p:nvSpPr>
          <p:spPr>
            <a:xfrm>
              <a:off x="381000" y="1047750"/>
              <a:ext cx="40959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9"/>
            <p:cNvSpPr txBox="1"/>
            <p:nvPr/>
          </p:nvSpPr>
          <p:spPr>
            <a:xfrm>
              <a:off x="571500" y="1225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77" name="Google Shape;177;p19"/>
            <p:cNvSpPr txBox="1"/>
            <p:nvPr/>
          </p:nvSpPr>
          <p:spPr>
            <a:xfrm>
              <a:off x="1047750" y="1190625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Use strong passwords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Create unique, complex passwords for every account.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8" name="Google Shape;178;p19"/>
          <p:cNvGrpSpPr/>
          <p:nvPr/>
        </p:nvGrpSpPr>
        <p:grpSpPr>
          <a:xfrm>
            <a:off x="4667250" y="1047750"/>
            <a:ext cx="4095900" cy="1143000"/>
            <a:chOff x="4667250" y="1047750"/>
            <a:chExt cx="4095900" cy="1143000"/>
          </a:xfrm>
        </p:grpSpPr>
        <p:sp>
          <p:nvSpPr>
            <p:cNvPr id="179" name="Google Shape;179;p19"/>
            <p:cNvSpPr/>
            <p:nvPr/>
          </p:nvSpPr>
          <p:spPr>
            <a:xfrm>
              <a:off x="4667250" y="1047750"/>
              <a:ext cx="40959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4857750" y="1225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phonelink_lock</a:t>
              </a:r>
              <a:endParaRPr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5334000" y="1190625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Enable 2-factor authentication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Add an extra layer of security beyond just a password.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2" name="Google Shape;182;p19"/>
          <p:cNvGrpSpPr/>
          <p:nvPr/>
        </p:nvGrpSpPr>
        <p:grpSpPr>
          <a:xfrm>
            <a:off x="381000" y="2333625"/>
            <a:ext cx="4095900" cy="1143000"/>
            <a:chOff x="381000" y="2333625"/>
            <a:chExt cx="4095900" cy="1143000"/>
          </a:xfrm>
        </p:grpSpPr>
        <p:sp>
          <p:nvSpPr>
            <p:cNvPr id="183" name="Google Shape;183;p19"/>
            <p:cNvSpPr/>
            <p:nvPr/>
          </p:nvSpPr>
          <p:spPr>
            <a:xfrm>
              <a:off x="381000" y="2333625"/>
              <a:ext cx="40959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9"/>
            <p:cNvSpPr txBox="1"/>
            <p:nvPr/>
          </p:nvSpPr>
          <p:spPr>
            <a:xfrm>
              <a:off x="571500" y="2511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link_off</a:t>
              </a:r>
              <a:endParaRPr sz="24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5" name="Google Shape;185;p19"/>
            <p:cNvSpPr txBox="1"/>
            <p:nvPr/>
          </p:nvSpPr>
          <p:spPr>
            <a:xfrm>
              <a:off x="1047750" y="2476500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Never click unknown links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Hover over links to verify destinations before clicking.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6" name="Google Shape;186;p19"/>
          <p:cNvGrpSpPr/>
          <p:nvPr/>
        </p:nvGrpSpPr>
        <p:grpSpPr>
          <a:xfrm>
            <a:off x="4667250" y="2333625"/>
            <a:ext cx="4095900" cy="1143000"/>
            <a:chOff x="4667250" y="2333625"/>
            <a:chExt cx="4095900" cy="1143000"/>
          </a:xfrm>
        </p:grpSpPr>
        <p:sp>
          <p:nvSpPr>
            <p:cNvPr id="187" name="Google Shape;187;p19"/>
            <p:cNvSpPr/>
            <p:nvPr/>
          </p:nvSpPr>
          <p:spPr>
            <a:xfrm>
              <a:off x="4667250" y="2333625"/>
              <a:ext cx="40959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 txBox="1"/>
            <p:nvPr/>
          </p:nvSpPr>
          <p:spPr>
            <a:xfrm>
              <a:off x="4857750" y="2511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sz="24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9" name="Google Shape;189;p19"/>
            <p:cNvSpPr txBox="1"/>
            <p:nvPr/>
          </p:nvSpPr>
          <p:spPr>
            <a:xfrm>
              <a:off x="5334000" y="2476500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Verify sender identity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Always check the actual email address, not just the name.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0" name="Google Shape;190;p19"/>
          <p:cNvGrpSpPr/>
          <p:nvPr/>
        </p:nvGrpSpPr>
        <p:grpSpPr>
          <a:xfrm>
            <a:off x="381000" y="3619500"/>
            <a:ext cx="4095900" cy="1143000"/>
            <a:chOff x="381000" y="3619500"/>
            <a:chExt cx="4095900" cy="1143000"/>
          </a:xfrm>
        </p:grpSpPr>
        <p:sp>
          <p:nvSpPr>
            <p:cNvPr id="191" name="Google Shape;191;p19"/>
            <p:cNvSpPr/>
            <p:nvPr/>
          </p:nvSpPr>
          <p:spPr>
            <a:xfrm>
              <a:off x="381000" y="3619500"/>
              <a:ext cx="40959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9"/>
            <p:cNvSpPr txBox="1"/>
            <p:nvPr/>
          </p:nvSpPr>
          <p:spPr>
            <a:xfrm>
              <a:off x="571500" y="37974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6366F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2400">
                <a:solidFill>
                  <a:srgbClr val="6366F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3" name="Google Shape;193;p19"/>
            <p:cNvSpPr txBox="1"/>
            <p:nvPr/>
          </p:nvSpPr>
          <p:spPr>
            <a:xfrm>
              <a:off x="1047750" y="3762375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Keep software updated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Apply security patches promptly to protect your system.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4" name="Google Shape;194;p19"/>
          <p:cNvGrpSpPr/>
          <p:nvPr/>
        </p:nvGrpSpPr>
        <p:grpSpPr>
          <a:xfrm>
            <a:off x="4667250" y="3619500"/>
            <a:ext cx="4095900" cy="1143000"/>
            <a:chOff x="4667250" y="3619500"/>
            <a:chExt cx="4095900" cy="1143000"/>
          </a:xfrm>
        </p:grpSpPr>
        <p:sp>
          <p:nvSpPr>
            <p:cNvPr id="195" name="Google Shape;195;p19"/>
            <p:cNvSpPr/>
            <p:nvPr/>
          </p:nvSpPr>
          <p:spPr>
            <a:xfrm>
              <a:off x="4667250" y="3619500"/>
              <a:ext cx="4095900" cy="1143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9"/>
            <p:cNvSpPr txBox="1"/>
            <p:nvPr/>
          </p:nvSpPr>
          <p:spPr>
            <a:xfrm>
              <a:off x="4857750" y="37974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>
                  <a:solidFill>
                    <a:srgbClr val="EC489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2400">
                <a:solidFill>
                  <a:srgbClr val="EC489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7" name="Google Shape;197;p19"/>
            <p:cNvSpPr txBox="1"/>
            <p:nvPr/>
          </p:nvSpPr>
          <p:spPr>
            <a:xfrm>
              <a:off x="5334000" y="3762375"/>
              <a:ext cx="32385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4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Use antivirus protection</a:t>
              </a:r>
              <a:endParaRPr b="1" sz="1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Ensure your security software is active and up to date.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98" name="Google Shape;198;p19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6 — Best Practices | Phishing Awareness Training</a:t>
            </a:r>
            <a:endParaRPr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Real-World Phishing Examples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06" name="Google Shape;206;p20"/>
          <p:cNvGrpSpPr/>
          <p:nvPr/>
        </p:nvGrpSpPr>
        <p:grpSpPr>
          <a:xfrm>
            <a:off x="381000" y="1143000"/>
            <a:ext cx="2571900" cy="3238500"/>
            <a:chOff x="381000" y="1143000"/>
            <a:chExt cx="2571900" cy="3238500"/>
          </a:xfrm>
        </p:grpSpPr>
        <p:sp>
          <p:nvSpPr>
            <p:cNvPr id="207" name="Google Shape;207;p20"/>
            <p:cNvSpPr/>
            <p:nvPr/>
          </p:nvSpPr>
          <p:spPr>
            <a:xfrm>
              <a:off x="381000" y="1143000"/>
              <a:ext cx="2571900" cy="3238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571500" y="142201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EF444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account_balance</a:t>
              </a:r>
              <a:endParaRPr sz="238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571500" y="1905000"/>
              <a:ext cx="2190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 1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Fake bank email asking users to “verify account details.”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>
            <a:off x="3286125" y="1143000"/>
            <a:ext cx="2571900" cy="3238500"/>
            <a:chOff x="3286125" y="1143000"/>
            <a:chExt cx="2571900" cy="3238500"/>
          </a:xfrm>
        </p:grpSpPr>
        <p:sp>
          <p:nvSpPr>
            <p:cNvPr id="211" name="Google Shape;211;p20"/>
            <p:cNvSpPr/>
            <p:nvPr/>
          </p:nvSpPr>
          <p:spPr>
            <a:xfrm>
              <a:off x="3286125" y="1143000"/>
              <a:ext cx="2571900" cy="3238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3476625" y="142201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local_shipping</a:t>
              </a:r>
              <a:endParaRPr sz="238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3476625" y="1905000"/>
              <a:ext cx="2190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 2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Fake delivery message with malicious tracking link.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6191250" y="1143000"/>
            <a:ext cx="2571900" cy="3238500"/>
            <a:chOff x="6191250" y="1143000"/>
            <a:chExt cx="2571900" cy="3238500"/>
          </a:xfrm>
        </p:grpSpPr>
        <p:sp>
          <p:nvSpPr>
            <p:cNvPr id="215" name="Google Shape;215;p20"/>
            <p:cNvSpPr/>
            <p:nvPr/>
          </p:nvSpPr>
          <p:spPr>
            <a:xfrm>
              <a:off x="6191250" y="1143000"/>
              <a:ext cx="2571900" cy="3238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6381750" y="1422019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38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badge</a:t>
              </a:r>
              <a:endParaRPr sz="238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7" name="Google Shape;217;p20"/>
            <p:cNvSpPr txBox="1"/>
            <p:nvPr/>
          </p:nvSpPr>
          <p:spPr>
            <a:xfrm>
              <a:off x="6381750" y="1905000"/>
              <a:ext cx="2190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Example 3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Company employee receives fake HR email requesting login credentials.</a:t>
              </a:r>
              <a:endParaRPr b="0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8" name="Google Shape;218;p20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7 — Real-World Examples | Phishing Awareness Training</a:t>
            </a:r>
            <a:endParaRPr b="0"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Interactive Quiz: Test Your Knowledge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6" name="Google Shape;226;p21"/>
          <p:cNvGrpSpPr/>
          <p:nvPr/>
        </p:nvGrpSpPr>
        <p:grpSpPr>
          <a:xfrm>
            <a:off x="381000" y="1047750"/>
            <a:ext cx="4095900" cy="3429000"/>
            <a:chOff x="381000" y="1047750"/>
            <a:chExt cx="4095900" cy="3429000"/>
          </a:xfrm>
        </p:grpSpPr>
        <p:sp>
          <p:nvSpPr>
            <p:cNvPr id="227" name="Google Shape;227;p21"/>
            <p:cNvSpPr/>
            <p:nvPr/>
          </p:nvSpPr>
          <p:spPr>
            <a:xfrm>
              <a:off x="381000" y="104775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571500" y="12733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quiz</a:t>
              </a:r>
              <a:endParaRPr b="0"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9" name="Google Shape;229;p21"/>
            <p:cNvSpPr txBox="1"/>
            <p:nvPr/>
          </p:nvSpPr>
          <p:spPr>
            <a:xfrm>
              <a:off x="571500" y="1619250"/>
              <a:ext cx="3714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Question 1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Which is a sign of phishing?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A. Professional email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B. Urgent request for password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C. Secure website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D. Known sender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66534"/>
                  </a:solidFill>
                  <a:highlight>
                    <a:srgbClr val="DCFCE7"/>
                  </a:highlight>
                  <a:latin typeface="Inter"/>
                  <a:ea typeface="Inter"/>
                  <a:cs typeface="Inter"/>
                  <a:sym typeface="Inter"/>
                </a:rPr>
                <a:t>✅ Correct Answer: B</a:t>
              </a:r>
              <a:endParaRPr b="1" sz="1100">
                <a:solidFill>
                  <a:srgbClr val="166534"/>
                </a:solidFill>
                <a:highlight>
                  <a:srgbClr val="DCFCE7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0" name="Google Shape;230;p21"/>
          <p:cNvGrpSpPr/>
          <p:nvPr/>
        </p:nvGrpSpPr>
        <p:grpSpPr>
          <a:xfrm>
            <a:off x="4667250" y="1047750"/>
            <a:ext cx="4095900" cy="3429000"/>
            <a:chOff x="4667250" y="1047750"/>
            <a:chExt cx="4095900" cy="3429000"/>
          </a:xfrm>
        </p:grpSpPr>
        <p:sp>
          <p:nvSpPr>
            <p:cNvPr id="231" name="Google Shape;231;p21"/>
            <p:cNvSpPr/>
            <p:nvPr/>
          </p:nvSpPr>
          <p:spPr>
            <a:xfrm>
              <a:off x="4667250" y="1047750"/>
              <a:ext cx="40959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21"/>
            <p:cNvSpPr txBox="1"/>
            <p:nvPr/>
          </p:nvSpPr>
          <p:spPr>
            <a:xfrm>
              <a:off x="4857750" y="12733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GB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b="0"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4857750" y="1619250"/>
              <a:ext cx="3714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Question 2</a:t>
              </a:r>
              <a:endParaRPr b="1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GB" sz="120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What should you do before clicking a link?</a:t>
              </a:r>
              <a:endParaRPr b="0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A. Click immediately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B. Ignore security warnings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C. Hover and verify URL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GB"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D. Share with friends</a:t>
              </a:r>
              <a:endParaRPr b="0" sz="1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GB" sz="1100">
                  <a:solidFill>
                    <a:srgbClr val="166534"/>
                  </a:solidFill>
                  <a:highlight>
                    <a:srgbClr val="DCFCE7"/>
                  </a:highlight>
                  <a:latin typeface="Inter"/>
                  <a:ea typeface="Inter"/>
                  <a:cs typeface="Inter"/>
                  <a:sym typeface="Inter"/>
                </a:rPr>
                <a:t>✅ Correct Answer: C</a:t>
              </a:r>
              <a:endParaRPr b="1" sz="1100">
                <a:solidFill>
                  <a:srgbClr val="166534"/>
                </a:solidFill>
                <a:highlight>
                  <a:srgbClr val="DCFCE7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34" name="Google Shape;234;p21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8 — Interactive Quiz | Phishing Awareness Training</a:t>
            </a:r>
            <a:endParaRPr b="0"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Conclusion &amp; Key Takeaways</a:t>
            </a:r>
            <a:endParaRPr b="1" sz="24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42" name="Google Shape;242;p22"/>
          <p:cNvGrpSpPr/>
          <p:nvPr/>
        </p:nvGrpSpPr>
        <p:grpSpPr>
          <a:xfrm>
            <a:off x="381000" y="3905250"/>
            <a:ext cx="8382000" cy="762000"/>
            <a:chOff x="381000" y="3905250"/>
            <a:chExt cx="8382000" cy="762000"/>
          </a:xfrm>
        </p:grpSpPr>
        <p:sp>
          <p:nvSpPr>
            <p:cNvPr id="243" name="Google Shape;243;p22"/>
            <p:cNvSpPr/>
            <p:nvPr/>
          </p:nvSpPr>
          <p:spPr>
            <a:xfrm>
              <a:off x="381000" y="3905250"/>
              <a:ext cx="8382000" cy="762000"/>
            </a:xfrm>
            <a:prstGeom prst="roundRect">
              <a:avLst>
                <a:gd fmla="val 15000" name="adj"/>
              </a:avLst>
            </a:prstGeom>
            <a:solidFill>
              <a:srgbClr val="3B82F6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2"/>
            <p:cNvSpPr txBox="1"/>
            <p:nvPr/>
          </p:nvSpPr>
          <p:spPr>
            <a:xfrm>
              <a:off x="381000" y="390525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GB" sz="2000">
                  <a:solidFill>
                    <a:srgbClr val="1E40AF"/>
                  </a:solidFill>
                  <a:latin typeface="Inter"/>
                  <a:ea typeface="Inter"/>
                  <a:cs typeface="Inter"/>
                  <a:sym typeface="Inter"/>
                </a:rPr>
                <a:t>“Cybersecurity starts with awareness.”</a:t>
              </a:r>
              <a:endParaRPr b="1" i="1" sz="2000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5" name="Google Shape;245;p22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0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9 — Conclusion | Phishing Awareness Training</a:t>
            </a:r>
            <a:endParaRPr b="0" sz="1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81000" y="1047750"/>
            <a:ext cx="8382000" cy="2667000"/>
          </a:xfrm>
          <a:prstGeom prst="roundRect">
            <a:avLst>
              <a:gd fmla="val 42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762000" y="1333500"/>
            <a:ext cx="76200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Important Lessons to Remember</a:t>
            </a:r>
            <a:endParaRPr b="1" sz="1600">
              <a:solidFill>
                <a:srgbClr val="0F172A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Inter"/>
              <a:buChar char="●"/>
            </a:pPr>
            <a:r>
              <a:rPr b="0" lang="en-GB" sz="18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mouse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Think before clicking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Inter"/>
              <a:buChar char="●"/>
            </a:pPr>
            <a:r>
              <a:rPr b="0" lang="en-GB" sz="18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fact_check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Verify suspicious messages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Inter"/>
              <a:buChar char="●"/>
            </a:pPr>
            <a:r>
              <a:rPr b="0" lang="en-GB" sz="18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lock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Protect passwords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Inter"/>
              <a:buChar char="●"/>
            </a:pPr>
            <a:r>
              <a:rPr b="0" lang="en-GB" sz="180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visibility</a:t>
            </a:r>
            <a:r>
              <a:rPr b="0" lang="en-GB" sz="14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Stay alert online</a:t>
            </a:r>
            <a:endParaRPr b="0" sz="14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